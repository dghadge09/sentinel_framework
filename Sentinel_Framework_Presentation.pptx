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i Ghadge" userId="a3aa9c5e03231019" providerId="LiveId" clId="{AE41FD8D-F3C7-4842-BAC8-2EA5BA987789}"/>
    <pc:docChg chg="undo custSel delSld modSld">
      <pc:chgData name="Dipti Ghadge" userId="a3aa9c5e03231019" providerId="LiveId" clId="{AE41FD8D-F3C7-4842-BAC8-2EA5BA987789}" dt="2026-02-23T03:20:29.120" v="250" actId="14100"/>
      <pc:docMkLst>
        <pc:docMk/>
      </pc:docMkLst>
      <pc:sldChg chg="modSp mod">
        <pc:chgData name="Dipti Ghadge" userId="a3aa9c5e03231019" providerId="LiveId" clId="{AE41FD8D-F3C7-4842-BAC8-2EA5BA987789}" dt="2026-02-23T01:31:57.066" v="2" actId="1076"/>
        <pc:sldMkLst>
          <pc:docMk/>
          <pc:sldMk cId="0" sldId="256"/>
        </pc:sldMkLst>
        <pc:spChg chg="mod">
          <ac:chgData name="Dipti Ghadge" userId="a3aa9c5e03231019" providerId="LiveId" clId="{AE41FD8D-F3C7-4842-BAC8-2EA5BA987789}" dt="2026-02-23T01:31:57.066" v="2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Dipti Ghadge" userId="a3aa9c5e03231019" providerId="LiveId" clId="{AE41FD8D-F3C7-4842-BAC8-2EA5BA987789}" dt="2026-02-23T02:56:41.734" v="3" actId="14100"/>
        <pc:sldMkLst>
          <pc:docMk/>
          <pc:sldMk cId="0" sldId="258"/>
        </pc:sldMkLst>
        <pc:spChg chg="mod">
          <ac:chgData name="Dipti Ghadge" userId="a3aa9c5e03231019" providerId="LiveId" clId="{AE41FD8D-F3C7-4842-BAC8-2EA5BA987789}" dt="2026-02-23T02:56:41.734" v="3" actId="14100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Dipti Ghadge" userId="a3aa9c5e03231019" providerId="LiveId" clId="{AE41FD8D-F3C7-4842-BAC8-2EA5BA987789}" dt="2026-02-23T03:10:22.729" v="146" actId="1076"/>
        <pc:sldMkLst>
          <pc:docMk/>
          <pc:sldMk cId="0" sldId="259"/>
        </pc:sldMkLst>
        <pc:spChg chg="mod">
          <ac:chgData name="Dipti Ghadge" userId="a3aa9c5e03231019" providerId="LiveId" clId="{AE41FD8D-F3C7-4842-BAC8-2EA5BA987789}" dt="2026-02-23T03:03:21.105" v="73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Dipti Ghadge" userId="a3aa9c5e03231019" providerId="LiveId" clId="{AE41FD8D-F3C7-4842-BAC8-2EA5BA987789}" dt="2026-02-23T02:57:58.162" v="25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3:21.105" v="73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0:22.729" v="146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0:03.742" v="143" actId="404"/>
          <ac:spMkLst>
            <pc:docMk/>
            <pc:sldMk cId="0" sldId="259"/>
            <ac:spMk id="6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5:36.952" v="95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5:24.693" v="92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5:31.672" v="94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8:20.564" v="122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9:50.086" v="141" actId="40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8:54.791" v="130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8:46.809" v="128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8:34.632" v="126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6:25.783" v="105" actId="1410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0:12.515" v="145" actId="40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9:24.746" v="137" actId="1410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9:35.906" v="139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6:53.464" v="111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7:11.401" v="11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07:22.128" v="115" actId="1076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Dipti Ghadge" userId="a3aa9c5e03231019" providerId="LiveId" clId="{AE41FD8D-F3C7-4842-BAC8-2EA5BA987789}" dt="2026-02-23T03:11:42.193" v="153" actId="14100"/>
        <pc:sldMkLst>
          <pc:docMk/>
          <pc:sldMk cId="0" sldId="260"/>
        </pc:sldMkLst>
        <pc:spChg chg="mod">
          <ac:chgData name="Dipti Ghadge" userId="a3aa9c5e03231019" providerId="LiveId" clId="{AE41FD8D-F3C7-4842-BAC8-2EA5BA987789}" dt="2026-02-23T03:10:37.879" v="147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1:32.244" v="152" actId="1410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1:42.193" v="153" actId="14100"/>
          <ac:spMkLst>
            <pc:docMk/>
            <pc:sldMk cId="0" sldId="260"/>
            <ac:spMk id="21" creationId="{00000000-0000-0000-0000-000000000000}"/>
          </ac:spMkLst>
        </pc:spChg>
      </pc:sldChg>
      <pc:sldChg chg="modSp mod">
        <pc:chgData name="Dipti Ghadge" userId="a3aa9c5e03231019" providerId="LiveId" clId="{AE41FD8D-F3C7-4842-BAC8-2EA5BA987789}" dt="2026-02-23T03:15:55.455" v="185" actId="14100"/>
        <pc:sldMkLst>
          <pc:docMk/>
          <pc:sldMk cId="0" sldId="261"/>
        </pc:sldMkLst>
        <pc:spChg chg="mod">
          <ac:chgData name="Dipti Ghadge" userId="a3aa9c5e03231019" providerId="LiveId" clId="{AE41FD8D-F3C7-4842-BAC8-2EA5BA987789}" dt="2026-02-23T03:11:54.609" v="15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2:20.332" v="156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2:26.572" v="158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2:39.363" v="160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2:46.168" v="162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2:53.780" v="164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3:35.367" v="16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3:43.439" v="17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3:43.439" v="170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3:43.439" v="170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5:55.455" v="185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4:55.244" v="175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5:49.505" v="184" actId="1410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15:41.482" v="182" actId="14100"/>
          <ac:spMkLst>
            <pc:docMk/>
            <pc:sldMk cId="0" sldId="261"/>
            <ac:spMk id="16" creationId="{00000000-0000-0000-0000-000000000000}"/>
          </ac:spMkLst>
        </pc:spChg>
      </pc:sldChg>
      <pc:sldChg chg="modSp del mod">
        <pc:chgData name="Dipti Ghadge" userId="a3aa9c5e03231019" providerId="LiveId" clId="{AE41FD8D-F3C7-4842-BAC8-2EA5BA987789}" dt="2026-02-23T03:18:38.290" v="187" actId="47"/>
        <pc:sldMkLst>
          <pc:docMk/>
          <pc:sldMk cId="0" sldId="265"/>
        </pc:sldMkLst>
        <pc:spChg chg="mod">
          <ac:chgData name="Dipti Ghadge" userId="a3aa9c5e03231019" providerId="LiveId" clId="{AE41FD8D-F3C7-4842-BAC8-2EA5BA987789}" dt="2026-02-23T03:17:30.019" v="186" actId="14100"/>
          <ac:spMkLst>
            <pc:docMk/>
            <pc:sldMk cId="0" sldId="265"/>
            <ac:spMk id="2" creationId="{00000000-0000-0000-0000-000000000000}"/>
          </ac:spMkLst>
        </pc:spChg>
      </pc:sldChg>
      <pc:sldChg chg="delSp modSp mod">
        <pc:chgData name="Dipti Ghadge" userId="a3aa9c5e03231019" providerId="LiveId" clId="{AE41FD8D-F3C7-4842-BAC8-2EA5BA987789}" dt="2026-02-23T03:20:29.120" v="250" actId="14100"/>
        <pc:sldMkLst>
          <pc:docMk/>
          <pc:sldMk cId="0" sldId="266"/>
        </pc:sldMkLst>
        <pc:spChg chg="del">
          <ac:chgData name="Dipti Ghadge" userId="a3aa9c5e03231019" providerId="LiveId" clId="{AE41FD8D-F3C7-4842-BAC8-2EA5BA987789}" dt="2026-02-23T03:18:59.540" v="188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20:21.639" v="248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Dipti Ghadge" userId="a3aa9c5e03231019" providerId="LiveId" clId="{AE41FD8D-F3C7-4842-BAC8-2EA5BA987789}" dt="2026-02-23T03:20:29.120" v="250" actId="14100"/>
          <ac:spMkLst>
            <pc:docMk/>
            <pc:sldMk cId="0" sldId="26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65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THE SENTINEL FRAMEWORK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</a:rPr>
              <a:t>AI-Powered Data Quality for Healthcare Pipelines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6416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Dipti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Senior Data Quality Manager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A896"/>
                </a:solidFill>
              </a:rPr>
              <a:t>Envision Healthcare Interview | February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</a:rPr>
              <a:t>$2.5M+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Annual Cost Avoidance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00600" y="1371600"/>
            <a:ext cx="38862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00600" y="15544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</a:rPr>
              <a:t>99.5%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00600" y="2240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Pipeline Uptime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8862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</a:rPr>
              <a:t>50%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Alert Reduction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3200400"/>
            <a:ext cx="38862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33832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</a:rPr>
              <a:t>15-20%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00600" y="40690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Claim Denial Reduction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8090"/>
                </a:solidFill>
              </a:rPr>
              <a:t>Quality isn't a bottleneck—it's an accelerator that enables teams to ship faster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Three-Layer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 </a:t>
            </a:r>
            <a:r>
              <a:rPr lang="en-US" sz="2400" b="1" dirty="0">
                <a:solidFill>
                  <a:srgbClr val="1E2761"/>
                </a:solidFill>
              </a:rPr>
              <a:t>Ingestion Guard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Circuit breaker pattern prevents bad data from entering the warehouse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109892"/>
            <a:ext cx="3657600" cy="1176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Schema drift 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Metadata-driven 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Automated circuit breakers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🏥 </a:t>
            </a:r>
            <a:r>
              <a:rPr lang="en-US" sz="2400" b="1" dirty="0">
                <a:solidFill>
                  <a:srgbClr val="1E2761"/>
                </a:solidFill>
              </a:rPr>
              <a:t>Clinical Validator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Healthcare-specific rules for patient safety and billing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ICD-10 code 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NPI Luhn algorithm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Claim denial prevention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 </a:t>
            </a:r>
            <a:r>
              <a:rPr lang="en-US" sz="2400" b="1" dirty="0">
                <a:solidFill>
                  <a:srgbClr val="1E2761"/>
                </a:solidFill>
              </a:rPr>
              <a:t>Agentic Observer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AI-powered anomaly detection with self-healing capabilities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ML pattern recognition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Auto-generates dbt tests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• Smart alert prioritization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140" y="457200"/>
            <a:ext cx="73246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Layer 1: Ingestion Guard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Circuit Breaker States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0397" y="1605454"/>
            <a:ext cx="2288524" cy="1986456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723958"/>
            <a:ext cx="1677451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🟢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22514" y="2514600"/>
            <a:ext cx="221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CLOSED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4137" y="2959188"/>
            <a:ext cx="2377440" cy="250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&lt;2% failures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55578"/>
            <a:ext cx="1768891" cy="250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Continue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8615" y="1569459"/>
            <a:ext cx="2377440" cy="1994337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46786" y="1737359"/>
            <a:ext cx="1425204" cy="471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🟡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521542" y="2420268"/>
            <a:ext cx="1944205" cy="302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E795"/>
                </a:solidFill>
              </a:rPr>
              <a:t>HALF-OPEN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1542" y="2755552"/>
            <a:ext cx="1881142" cy="3045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2-5% failures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1542" y="3075065"/>
            <a:ext cx="2032491" cy="316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Warn and continue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89764" y="1556057"/>
            <a:ext cx="2377439" cy="2030599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70168" y="1669568"/>
            <a:ext cx="2216632" cy="561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🔴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779172" y="2420267"/>
            <a:ext cx="1595471" cy="356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OPEN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2854348"/>
            <a:ext cx="2267712" cy="267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&gt;5% failures OR schema drift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19088" y="3183847"/>
            <a:ext cx="2377440" cy="26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STOP the pipeline immediately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117" y="375613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Key Capabilities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4137" y="4136873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</a:rPr>
              <a:t>• Schema drift detection and prevention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</a:rPr>
              <a:t>• Metadata-driven pipeline validation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</a:rPr>
              <a:t>• Real-time SLA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8896" y="457200"/>
            <a:ext cx="72679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Layer 2: Clinical Validator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</a:rPr>
              <a:t>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Healthcare-Specific Validations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ICD-10 Codes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Format validation: ^[A-Z][0-9]{2}(\.[0-9A-Z]{0,4})?$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CPT Codes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5-digit procedure code verification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👨‍⚕️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NPI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10-digit Luhn algorithm checksum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Claim Prevention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Timely filing, prior auth, medical necessity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HIPAA Compliance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657600" cy="233172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🔒 PHI/PII Protection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25603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✓ Dynamic data masking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✓ Role-based access 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✓ Audit logging (all PHI access)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✓ TLS 1.2+ in transit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✓ AES-256 at 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47098" y="4389120"/>
            <a:ext cx="4207716" cy="517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A896"/>
                </a:solidFill>
              </a:rPr>
              <a:t>Expected Impact: 15-20% reduction in claim denials within 6 months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0246" y="457200"/>
            <a:ext cx="71165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Layer 3: Agentic Observer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</a:rPr>
              <a:t>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</a:rPr>
              <a:t>AI-Powered Innovation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Autonomous Anomaly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ML-based pattern recognition identifies unusual validation failure patterns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7863840" cy="345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Example: Detects new provider code format → validates legitimacy → auto-generates dbt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6568" y="276842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Smart Alert Prioritization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6568" y="3088465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AI severity scoring reduces false positives by 50%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6568" y="336278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Only surfaces high-confidence issues (&gt;70%) based on historical patterns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2316"/>
            <a:ext cx="8229600" cy="992384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28768"/>
            <a:ext cx="7863840" cy="190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Self-Healing Pipelines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236361"/>
            <a:ext cx="7863840" cy="190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Automated fixes for minor issues, proposed solutions for medium issues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554093"/>
            <a:ext cx="7863840" cy="320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Auto-corrects: whitespace trimming, date format standardization, case normalization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Azure Data Factory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❄️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53212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Data Warehouse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Snowflake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Collibra Data Quality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28600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3212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Monte Carlo / Soda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8872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AI/ML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OpenAI API / Claude AI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329184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3212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Testing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Great Expectations / dbt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8872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Languages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Python, SQL, JavaScript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4297680"/>
            <a:ext cx="41148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53212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CI/CD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Git + Azure DevOps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Implementation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30 Days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Quick Wins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432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Schema drift on top 10 tables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Basic circuit breakers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ICD-10/CPT validation rules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Baseline metrics established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188720"/>
            <a:ext cx="2743200" cy="6400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46704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60 Days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46704" y="16002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Framework 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46704" y="1920240"/>
            <a:ext cx="27432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584" y="21031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Clinical validation layer (50+ tables)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Claim denial prevention checks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HIPAA compliance (PHI masking)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All critical pipelines protected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6208" y="1188720"/>
            <a:ext cx="2743200" cy="6400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90 Days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36208" y="16002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AI Innovation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6208" y="1920240"/>
            <a:ext cx="27432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19088" y="210312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Agentic AI observer pilot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Smart alert prioritization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Self-healing capabilities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761"/>
                </a:solidFill>
              </a:rPr>
              <a:t>✓ Full stack integration (100+ tables)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Expected Business Impact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Cost Avoidance (Annual)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</a:rPr>
              <a:t>$2.5M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</a:rPr>
              <a:t>Prevented claim denials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</a:rPr>
              <a:t>$800K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031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</a:rPr>
              <a:t>Reduced engineering rework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</a:rPr>
              <a:t>$1M+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</a:rPr>
              <a:t>Avoided compliance penalties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411480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Total Annual Benefit: $4.3M+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Operational Improvements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</a:rPr>
              <a:t>→ Claim Denial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15-20% reduction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</a:rPr>
              <a:t>→ Engineering Velocity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+30% faster releases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</a:rPr>
              <a:t>→ Investigation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-50% manual effort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</a:rPr>
              <a:t>→ HIPAA Violations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Zero (DQ-related)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72054" y="1362141"/>
            <a:ext cx="74381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</a:rPr>
              <a:t>Production-ready framework that prevents claim denials,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</a:rPr>
              <a:t>accelerates engineering velocity, and ensures HIPAA compliance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957611"/>
            <a:ext cx="765258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Dipti  Ghadge
</a:t>
            </a:r>
            <a:r>
              <a:rPr lang="en-US" sz="1400" dirty="0">
                <a:solidFill>
                  <a:srgbClr val="CADCFC"/>
                </a:solidFill>
              </a:rPr>
              <a:t> Data Quality Leader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586</Words>
  <Application>Microsoft Office PowerPoint</Application>
  <PresentationFormat>On-screen Show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Dipti Ghadge</cp:lastModifiedBy>
  <cp:revision>1</cp:revision>
  <dcterms:created xsi:type="dcterms:W3CDTF">2026-02-16T20:11:29Z</dcterms:created>
  <dcterms:modified xsi:type="dcterms:W3CDTF">2026-02-23T03:20:35Z</dcterms:modified>
</cp:coreProperties>
</file>